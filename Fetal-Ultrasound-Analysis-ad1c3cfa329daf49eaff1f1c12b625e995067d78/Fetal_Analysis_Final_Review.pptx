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365760"/>
            <a:ext cx="731520" cy="109728"/>
          </a:xfrm>
          <a:prstGeom prst="rect">
            <a:avLst/>
          </a:prstGeom>
          <a:solidFill>
            <a:srgbClr val="1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0816" y="54864"/>
            <a:ext cx="109728" cy="731520"/>
          </a:xfrm>
          <a:prstGeom prst="rect">
            <a:avLst/>
          </a:prstGeom>
          <a:solidFill>
            <a:srgbClr val="1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Fetal Image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9A7"/>
                </a:solidFill>
                <a:latin typeface="Calibri"/>
              </a:defRPr>
            </a:pPr>
            <a:r>
              <a:t>Using Deep Learning Model (YOLOv8)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BBDDDD"/>
                </a:solidFill>
                <a:latin typeface="Calibri"/>
              </a:defRPr>
            </a:pPr>
            <a:r>
              <a:t>Microproject — Final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880360"/>
            <a:ext cx="3044952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3383280"/>
            <a:ext cx="4572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4930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B8F8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79476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A2B2B"/>
                </a:solidFill>
                <a:latin typeface="Calibri"/>
              </a:defRPr>
            </a:pPr>
            <a:r>
              <a:t>JAI RASIGA.G.K   (24TC0237)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1A2B2B"/>
                </a:solidFill>
                <a:latin typeface="Calibri"/>
              </a:defRPr>
            </a:pPr>
            <a:r>
              <a:t>SANGAMITHIRAI.K   (24TC0296)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1A2B2B"/>
                </a:solidFill>
                <a:latin typeface="Calibri"/>
              </a:defRPr>
            </a:pPr>
            <a:r>
              <a:t>RAJADIVYA.V   (24TC0290)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38328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493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B8F8F"/>
                </a:solidFill>
                <a:latin typeface="Calibri"/>
              </a:defRPr>
            </a:pPr>
            <a:r>
              <a:t>PROJECT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1A2B2B"/>
                </a:solidFill>
                <a:latin typeface="Calibri"/>
              </a:defRPr>
            </a:pPr>
            <a:r>
              <a:t>MR. S.MOHANRAJ</a:t>
            </a:r>
          </a:p>
          <a:p>
            <a:pPr algn="ctr">
              <a:spcAft>
                <a:spcPts val="200"/>
              </a:spcAft>
              <a:defRPr sz="1500" b="1">
                <a:solidFill>
                  <a:srgbClr val="1A2B2B"/>
                </a:solidFill>
                <a:latin typeface="Calibri"/>
              </a:defRPr>
            </a:pPr>
            <a:r>
              <a:t>AP/ECE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99BBBB"/>
                </a:solidFill>
                <a:latin typeface="Calibri"/>
              </a:defRPr>
            </a:pPr>
            <a:r>
              <a:t>Department of Electronics &amp; Communication Engineering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99BBBB"/>
                </a:solidFill>
                <a:latin typeface="Calibri"/>
              </a:defRPr>
            </a:pPr>
            <a:r>
              <a:t>Manakula Vinayagar Institute of Technology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99BBBB"/>
                </a:solidFill>
                <a:latin typeface="Calibri"/>
              </a:defRPr>
            </a:pPr>
            <a:r>
              <a:t>2024 –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BBBB"/>
                </a:solidFill>
              </a:defRPr>
            </a:pPr>
            <a:r>
              <a:t>Fetal Image Analysis | MVIT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4356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44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4356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44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048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37744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3957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048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Proposed System &amp; Architecture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33756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3558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64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33756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558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25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29768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3159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325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Web Demo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25780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2760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285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25780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2760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285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B2B"/>
                </a:solidFill>
                <a:latin typeface="Calibri"/>
              </a:defRPr>
            </a:pPr>
            <a:r>
              <a:t>Fetal health monitoring during pregnancy relies heavily on ultrasound imaging. Manual interpretation of these images is time-consuming and prone to inter-observer variability. This project proposes an automated deep learning-based system using YOLOv8 to classify fetal ultrasound images into 9 anatomical planes and detect abnormalities with high accuracy. The system achieves 96.4% accuracy on the BCNatal dataset of 12,400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474720" cy="12344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12,400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Images — BCNatal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880360"/>
            <a:ext cx="3474720" cy="12344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971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Classes — Anatomical Planes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389120"/>
            <a:ext cx="3474720" cy="12344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480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96.4%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Accuracy —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7315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9164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19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A4F4F"/>
                </a:solidFill>
                <a:latin typeface="Calibri"/>
              </a:defRPr>
            </a:pPr>
            <a:r>
              <a:t>Time Consuming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488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8F8F"/>
                </a:solidFill>
                <a:latin typeface="Calibri"/>
              </a:defRPr>
            </a:pPr>
            <a:r>
              <a:t>Manual analysis of ultrasound scans requires significant time from skilled radiologists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03520" cy="7315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69164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719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A4F4F"/>
                </a:solidFill>
                <a:latin typeface="Calibri"/>
              </a:defRPr>
            </a:pPr>
            <a:r>
              <a:t>Human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1488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8F8F"/>
                </a:solidFill>
                <a:latin typeface="Calibri"/>
              </a:defRPr>
            </a:pPr>
            <a:r>
              <a:t>Inter-observer variability leads to inconsistent diagnoses between different experts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5303520" cy="7315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397764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05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A4F4F"/>
                </a:solidFill>
                <a:latin typeface="Calibri"/>
              </a:defRPr>
            </a:pPr>
            <a:r>
              <a:t>Large Data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348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8F8F"/>
                </a:solidFill>
                <a:latin typeface="Calibri"/>
              </a:defRPr>
            </a:pPr>
            <a:r>
              <a:t>Growing number of prenatal scans creates unsustainable workload in healthcare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5303520" cy="7315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397764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005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A4F4F"/>
                </a:solidFill>
                <a:latin typeface="Calibri"/>
              </a:defRPr>
            </a:pPr>
            <a:r>
              <a:t>Need for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4348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8F8F"/>
                </a:solidFill>
                <a:latin typeface="Calibri"/>
              </a:defRPr>
            </a:pPr>
            <a:r>
              <a:t>Automated, accurate, and consistent analysis system is critical for modern prenatal 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447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Develop automated deep learning system for fetal ultrasound image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4864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Achieve &gt;95% accuracy in anatomical plane detection across 9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4864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564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Implement Normal vs Abnormal classification with clinical confidence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4864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622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Build real-time web demo for clinical demonstration and faculty 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54864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4681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Validate on BCNatal dataset from two major hospitals (12,400 images)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BBBB"/>
                </a:solidFill>
              </a:defRPr>
            </a:pPr>
            <a:r>
              <a:t>Fetal Image Analysis | MVIT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B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743200"/>
                <a:gridCol w="256032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Chen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Circumference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High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Liu et al. 2024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Deep Learning Segmentation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Biometric Measurement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High Accuracy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Krishna &amp; Kokil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Stacked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Plane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Enhanced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Thomas et al. 2024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Ensemble Deep Learning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Plane Identification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Improved Accuracy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Islam et al.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Multi-Scale CNN +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97.5%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Our System (YOLOv8)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YOLOv8s Classification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Multi-Task Analysis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96.4% Accuracy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D6E6E"/>
                </a:solidFill>
                <a:latin typeface="Calibri"/>
              </a:defRPr>
            </a:pPr>
            <a:r>
              <a:t>Gap identified: No unified system for multi-task fetal analysis → addressed by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Proposed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194560" cy="1005840"/>
          </a:xfrm>
          <a:prstGeom prst="roundRect">
            <a:avLst/>
          </a:prstGeom>
          <a:solidFill>
            <a:srgbClr val="E8F4F4"/>
          </a:solidFill>
          <a:ln w="1905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2B"/>
                </a:solidFill>
                <a:latin typeface="Calibri"/>
              </a:rPr>
              <a:t>Ultrasound
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194560" cy="1005840"/>
          </a:xfrm>
          <a:prstGeom prst="roundRect">
            <a:avLst/>
          </a:prstGeom>
          <a:solidFill>
            <a:srgbClr val="E8F4F4"/>
          </a:solidFill>
          <a:ln w="1905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2B"/>
                </a:solidFill>
                <a:latin typeface="Calibri"/>
              </a:rPr>
              <a:t>Preprocessing
(CLAHE + Resize + Normalize)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463040"/>
            <a:ext cx="2194560" cy="1005840"/>
          </a:xfrm>
          <a:prstGeom prst="roundRect">
            <a:avLst/>
          </a:prstGeom>
          <a:solidFill>
            <a:srgbClr val="0A4F4F"/>
          </a:solidFill>
          <a:ln w="1905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YOLOv8
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63040"/>
            <a:ext cx="2194560" cy="1005840"/>
          </a:xfrm>
          <a:prstGeom prst="roundRect">
            <a:avLst/>
          </a:prstGeom>
          <a:solidFill>
            <a:srgbClr val="0A4F4F"/>
          </a:solidFill>
          <a:ln w="1905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Feature
Extraction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43200" y="1783080"/>
            <a:ext cx="502920" cy="320040"/>
          </a:xfrm>
          <a:prstGeom prst="right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486400" y="1783080"/>
            <a:ext cx="502920" cy="320040"/>
          </a:xfrm>
          <a:prstGeom prst="right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961120" y="1783080"/>
            <a:ext cx="502920" cy="320040"/>
          </a:xfrm>
          <a:prstGeom prst="right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10195560" y="2468880"/>
            <a:ext cx="320040" cy="502920"/>
          </a:xfrm>
          <a:prstGeom prst="right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058400" y="2514600"/>
            <a:ext cx="411480" cy="45720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3017520"/>
            <a:ext cx="3017520" cy="914400"/>
          </a:xfrm>
          <a:prstGeom prst="roundRect">
            <a:avLst/>
          </a:prstGeom>
          <a:solidFill>
            <a:srgbClr val="0D6E6E"/>
          </a:solidFill>
          <a:ln w="12700">
            <a:solidFill>
              <a:srgbClr val="0A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063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Classification Head
(Softmax → 9 Classes)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966960" y="3931920"/>
            <a:ext cx="411480" cy="45720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4663440"/>
            <a:ext cx="2743200" cy="777240"/>
          </a:xfrm>
          <a:prstGeom prst="roundRect">
            <a:avLst/>
          </a:prstGeom>
          <a:solidFill>
            <a:srgbClr val="00C9A7"/>
          </a:solidFill>
          <a:ln w="12700">
            <a:solidFill>
              <a:srgbClr val="00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7365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4F4F"/>
                </a:solidFill>
                <a:latin typeface="Calibri"/>
              </a:rPr>
              <a:t>Anatomical Class Label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4663440"/>
            <a:ext cx="1828800" cy="777240"/>
          </a:xfrm>
          <a:prstGeom prst="roundRect">
            <a:avLst/>
          </a:prstGeom>
          <a:solidFill>
            <a:srgbClr val="00C9A7"/>
          </a:solidFill>
          <a:ln w="12700">
            <a:solidFill>
              <a:srgbClr val="00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469087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4F4F"/>
                </a:solidFill>
                <a:latin typeface="Calibri"/>
              </a:rPr>
              <a:t>Normal /
Abnormal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961120" y="5440680"/>
            <a:ext cx="411480" cy="36576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5669280"/>
            <a:ext cx="3200400" cy="68580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57150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4F4F"/>
                </a:solidFill>
                <a:latin typeface="Calibri"/>
              </a:rPr>
              <a:t>Web Demo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A2B2B"/>
                </a:solidFill>
                <a:latin typeface="Calibri"/>
              </a:defRPr>
            </a:pPr>
            <a:r>
              <a:t>1. CLAHE Enhancement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A2B2B"/>
                </a:solidFill>
                <a:latin typeface="Calibri"/>
              </a:defRPr>
            </a:pPr>
            <a:r>
              <a:t>2. Resize to 224×224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A2B2B"/>
                </a:solidFill>
                <a:latin typeface="Calibri"/>
              </a:defRPr>
            </a:pPr>
            <a:r>
              <a:t>3. Normalize [0, 1]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A2B2B"/>
                </a:solidFill>
                <a:latin typeface="Calibri"/>
              </a:defRPr>
            </a:pPr>
            <a:r>
              <a:t>4. RGB Tensor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D6E6E"/>
                </a:solidFill>
                <a:latin typeface="Calibri"/>
              </a:defRPr>
            </a:pPr>
            <a:r>
              <a:t>Preprocessing Steps: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Dataset Description — BCNatal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82296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1,792 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474720" cy="82296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143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12,400+ 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097280"/>
            <a:ext cx="3474720" cy="82296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143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  Anatomical Classes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9456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657600"/>
                <a:gridCol w="292608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Use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Fetal Brain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3,092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Neurodevelopment Assessment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Trans-thalamic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Neurodevelopment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Fetal Thorax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1,718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Heart &amp; Lung Evaluation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Maternal Cervix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Prematurity Risk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Fetal Femur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1,040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Fetal Weight Estimation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Trans-cerebellum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Fetal Weight Estimation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Fetal Abdomen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711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Morphology Assessment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Trans-ventricular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Ventricle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4,213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Various / Non-standard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B8F8F"/>
                </a:solidFill>
                <a:latin typeface="Calibri"/>
              </a:defRPr>
            </a:pPr>
            <a:r>
              <a:t>Source: BCNatal — Hospital Clínic de Barcelona &amp; Hospital Sant Joan de Déu  |  Zenodo DOI: 10.5281/zenodo.3904280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371600"/>
            <a:ext cx="54864" cy="48463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1399032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399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733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CCCC"/>
                </a:solidFill>
                <a:latin typeface="Calibri"/>
              </a:defRPr>
            </a:pPr>
            <a:r>
              <a:t>Download → Explore → YOLO Format → Split 70/20/10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2359152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9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334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CCCC"/>
                </a:solidFill>
                <a:latin typeface="Calibri"/>
              </a:defRPr>
            </a:pPr>
            <a:r>
              <a:t>YOLOv8s-cls → 14 epochs → AdamW → Early stopping at patience 4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" y="3319272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319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Inference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9359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CCCC"/>
                </a:solidFill>
                <a:latin typeface="Calibri"/>
              </a:defRPr>
            </a:pPr>
            <a:r>
              <a:t>preprocess() → predict() → annotate_image() → Flask API</a:t>
            </a:r>
          </a:p>
        </p:txBody>
      </p:sp>
      <p:sp>
        <p:nvSpPr>
          <p:cNvPr id="20" name="Oval 19"/>
          <p:cNvSpPr/>
          <p:nvPr/>
        </p:nvSpPr>
        <p:spPr>
          <a:xfrm>
            <a:off x="1078992" y="4279392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2793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Web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537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CCCC"/>
                </a:solidFill>
                <a:latin typeface="Calibri"/>
              </a:defRPr>
            </a:pPr>
            <a:r>
              <a:t>Single HTML file → Upload → Analyze → Report (API + Demo Mode)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" y="5239512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2395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4F4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5138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CCCC"/>
                </a:solidFill>
                <a:latin typeface="Calibri"/>
              </a:defRPr>
            </a:pPr>
            <a:r>
              <a:t>Accuracy / Precision / Recall / F1 / Confusion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BBBB"/>
                </a:solidFill>
              </a:defRPr>
            </a:pPr>
            <a:r>
              <a:t>Fetal Image Analysis | MVIT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B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YOLOv8 — Model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777240"/>
          </a:xfrm>
          <a:prstGeom prst="roundRect">
            <a:avLst/>
          </a:prstGeom>
          <a:solidFill>
            <a:srgbClr val="E8F4F4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2B"/>
                </a:solidFill>
                <a:latin typeface="Calibri"/>
              </a:rPr>
              <a:t>Input Image
(224 × 224 × 3)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17520" y="2057400"/>
            <a:ext cx="365760" cy="27432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029200" cy="777240"/>
          </a:xfrm>
          <a:prstGeom prst="roundRect">
            <a:avLst/>
          </a:prstGeom>
          <a:solidFill>
            <a:srgbClr val="0D6E6E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Backbone
(CSPDarknet53)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3108960"/>
            <a:ext cx="365760" cy="27432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029200" cy="777240"/>
          </a:xfrm>
          <a:prstGeom prst="roundRect">
            <a:avLst/>
          </a:prstGeom>
          <a:solidFill>
            <a:srgbClr val="0D6E6E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Neck
(PANet — Multi-scale Fusion)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017520" y="4160520"/>
            <a:ext cx="365760" cy="27432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5029200" cy="777240"/>
          </a:xfrm>
          <a:prstGeom prst="roundRect">
            <a:avLst/>
          </a:prstGeom>
          <a:solidFill>
            <a:srgbClr val="0A4F4F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Classification Head
(Softmax → 9 Classes)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017520" y="5212080"/>
            <a:ext cx="365760" cy="274320"/>
          </a:xfrm>
          <a:prstGeom prst="downArrow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5029200" cy="777240"/>
          </a:xfrm>
          <a:prstGeom prst="roundRect">
            <a:avLst/>
          </a:prstGeom>
          <a:solidFill>
            <a:srgbClr val="00C9A7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4F4F"/>
                </a:solidFill>
                <a:latin typeface="Calibri"/>
              </a:rPr>
              <a:t>Output: Anatomical Class
+ Confidence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A4F4F"/>
                </a:solidFill>
                <a:latin typeface="Calibri"/>
              </a:defRPr>
            </a:pPr>
            <a:r>
              <a:t>Key Specifications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783080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"You Only Look Once" Architecture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258568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167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Real-time inference: ~23.5ms per image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734056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642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YOLOv8s-cls variant (Small)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209544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118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Pre-trained on ImageNet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85032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593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Fine-tuned on BCNatal dataset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160520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Input size: 224 × 224 RGB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4636008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544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Parameters: ~11M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5111496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0200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Optimizer: AdamW (lr=0.001)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5586984"/>
            <a:ext cx="137160" cy="1371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4955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Exports: ONNX, TorchScript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Training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606040" cy="10058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96.4%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97280"/>
            <a:ext cx="2606040" cy="10058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115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91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97280"/>
            <a:ext cx="2606040" cy="10058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15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097280"/>
            <a:ext cx="2606040" cy="10058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115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95.2%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691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EEDD"/>
                </a:solidFill>
                <a:latin typeface="Calibri"/>
              </a:rP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Model converged at epoch 14/50 with early stopping (patience=4) on Tesla T4 GPU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Total training time: 36 minutes  |  Model size: 9.8 MB  |  Inference: 23.5ms/image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Consistent performance across all 9 anatomical classes with no overfitting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A4F4F"/>
                </a:solidFill>
                <a:latin typeface="Calibri"/>
              </a:defRPr>
            </a:pPr>
            <a:r>
              <a:t>Per-Class F1 Score on Test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5935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Trans-thalamic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014215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4014215"/>
            <a:ext cx="6031382" cy="1828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39593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97.0%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611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Fetal brain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315967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4315967"/>
            <a:ext cx="6018946" cy="1828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426110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96.8%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6285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Maternal cervix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617719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4617719"/>
            <a:ext cx="6006510" cy="1828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56285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646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Fetal abdomen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4919471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4919471"/>
            <a:ext cx="6000292" cy="1828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8646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96.5%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663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Fetal femur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5221223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0" y="5221223"/>
            <a:ext cx="5950549" cy="1828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5166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95.7%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Trans-cerebellum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522975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0" y="5522975"/>
            <a:ext cx="5944331" cy="1828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546811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95.6%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986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Fetal thorax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5824727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8960" y="5824727"/>
            <a:ext cx="5900806" cy="18288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576986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94.9%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716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Trans-ventricular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6126479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08960" y="6126479"/>
            <a:ext cx="5869716" cy="18288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60716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94.4%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37336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1A2B2B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6428231"/>
            <a:ext cx="6217920" cy="18288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8960" y="6428231"/>
            <a:ext cx="5764011" cy="18288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637336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A2B2B"/>
                </a:solidFill>
                <a:latin typeface="Calibri"/>
              </a:defRPr>
            </a:pPr>
            <a:r>
              <a:t>92.7%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Classification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2B2B"/>
                </a:solidFill>
                <a:latin typeface="Calibri"/>
              </a:defRPr>
            </a:pPr>
            <a:r>
              <a:t>Strong diagonal dominance observed across all 9 anatomical classes, indicating high classification accuracy with minimal inter-class confusion.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Key Observations: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Fetal Brain: 3,089/3,092 correctly classified (99.9%)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Trans-thalamic: Highest per-class precision at 97.8%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Fetal Femur: Only 1 misclassification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All classes: near-perfect classification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Overall misclassification rate: &lt; 0.3%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B2B"/>
                </a:solidFill>
                <a:latin typeface="Calibri"/>
              </a:defRPr>
            </a:pPr>
            <a:r>
              <a:t>• Strongest confusion: Other ↔ Maternal Cervix (expected)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↓ / Pred →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Brain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Femur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Thorax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Cervix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Brain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4F4F"/>
                          </a:solidFill>
                          <a:latin typeface="Calibri"/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Femur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4F4F"/>
                          </a:solidFill>
                          <a:latin typeface="Calibri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E0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Thorax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4F4F"/>
                          </a:solidFill>
                          <a:latin typeface="Calibri"/>
                        </a:defRPr>
                      </a:pPr>
                      <a:r>
                        <a:t>97.0%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FFE0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Cervix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4F4F"/>
                          </a:solidFill>
                          <a:latin typeface="Calibri"/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E0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E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6B8F8F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4F4F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Web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00C9A7"/>
                </a:solidFill>
                <a:latin typeface="Calibri"/>
              </a:defRPr>
            </a:pPr>
            <a:r>
              <a:t>fetal_analysis_demo.html — Single File, Zero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2B2B"/>
                </a:solidFill>
                <a:latin typeface="Calibri"/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4F4F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8F8F"/>
                </a:solidFill>
                <a:latin typeface="Calibri"/>
              </a:rPr>
              <a:t>Drag &amp; drop or browse
ultrasound images
JPG / PNG / WEBP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2B2B"/>
                </a:solidFill>
                <a:latin typeface="Calibri"/>
              </a:rP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4F4F"/>
                </a:solidFill>
                <a:latin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8F8F"/>
                </a:solidFill>
                <a:latin typeface="Calibri"/>
              </a:rPr>
              <a:t>YOLOv8 inference with
CLAHE preprocessing
~23.5ms response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508760"/>
            <a:ext cx="34747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2B2B"/>
                </a:solidFill>
                <a:latin typeface="Calibr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03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4F4F"/>
                </a:solidFill>
                <a:latin typeface="Calibr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606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8F8F"/>
                </a:solidFill>
                <a:latin typeface="Calibri"/>
              </a:rPr>
              <a:t>Class prediction,
confidence score,
clinical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9 anatomical class icons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Confidence bar animation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Normal / Abnormal status badge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Canvas image annotation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Downloadable PDF report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API Mode + Demo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BBBB"/>
                </a:solidFill>
              </a:defRPr>
            </a:pPr>
            <a:r>
              <a:t>Fetal Image Analysis | MVIT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B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4F4F"/>
                </a:solidFill>
                <a:latin typeface="Calibri"/>
              </a:defRPr>
            </a:pPr>
            <a:r>
              <a:t>Benchmarking Against State-of-the-Art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286000"/>
                <a:gridCol w="246888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Multi-Task</a:t>
                      </a:r>
                    </a:p>
                  </a:txBody>
                  <a:tcPr>
                    <a:solidFill>
                      <a:srgbClr val="0A4F4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Liu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Krishna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~94%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Thomas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Plane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Islam et al. 2025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Detection + Anomaly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Our System (YOLOv8)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Classify + Detect + Demo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2B2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0F0E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846320"/>
            <a:ext cx="9418320" cy="1097280"/>
          </a:xfrm>
          <a:prstGeom prst="roundRect">
            <a:avLst/>
          </a:prstGeom>
          <a:solidFill>
            <a:srgbClr val="E8F4F4"/>
          </a:solidFill>
          <a:ln w="254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93776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4F4F"/>
                </a:solidFill>
                <a:latin typeface="Calibri"/>
              </a:rPr>
              <a:t>Our system matches state-of-the-art performance while adding a real-time web demo interface — making it practically deployable for clinical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8F8F"/>
                </a:solidFill>
              </a:defRPr>
            </a:pPr>
            <a:r>
              <a:t>Fetal Image Analysis | MVIT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8F8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Successfully built automated fetal ultrasound analysis system using YOLOv8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Achieved 96.4% accuracy on 9-class classification task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Deployed as web demo with clinical-grade UI design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Built Flask REST API inference pipeline with 5 endpoints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 Matches performance of published research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0">
                <a:solidFill>
                  <a:srgbClr val="00C9A7"/>
                </a:solidFill>
                <a:latin typeface="Calibri"/>
              </a:defRPr>
            </a:pPr>
            <a:r>
              <a:t>→  Integrate with real ultrasound machine hardware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00C9A7"/>
                </a:solidFill>
                <a:latin typeface="Calibri"/>
              </a:defRPr>
            </a:pPr>
            <a:r>
              <a:t>→  Expand dataset to first-trimester scans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00C9A7"/>
                </a:solidFill>
                <a:latin typeface="Calibri"/>
              </a:defRPr>
            </a:pPr>
            <a:r>
              <a:t>→  Add rare anomaly detection classes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00C9A7"/>
                </a:solidFill>
                <a:latin typeface="Calibri"/>
              </a:defRPr>
            </a:pPr>
            <a:r>
              <a:t>→  Deploy on mobile devices (TFLite model)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00C9A7"/>
                </a:solidFill>
                <a:latin typeface="Calibri"/>
              </a:defRPr>
            </a:pPr>
            <a:r>
              <a:t>→  Prospective clinical validation trials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00C9A7"/>
                </a:solidFill>
                <a:latin typeface="Calibri"/>
              </a:defRPr>
            </a:pPr>
            <a:r>
              <a:t>→  Real-time video stream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36576" cy="4114800"/>
          </a:xfrm>
          <a:prstGeom prst="rect">
            <a:avLst/>
          </a:prstGeom>
          <a:solidFill>
            <a:srgbClr val="1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BBBB"/>
                </a:solidFill>
              </a:defRPr>
            </a:pPr>
            <a:r>
              <a:t>Fetal Image Analysis | MVIT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B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BDDDD"/>
                </a:solidFill>
                <a:latin typeface="Calibri"/>
              </a:defRPr>
            </a:pPr>
            <a:r>
              <a:t>[1] Islam et al. (2025). Fetal-Net: Multi-Scale CNN + Transformer. Scientific Reports. DOI: 10.1038/s41598-025-06526-4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BDDDD"/>
                </a:solidFill>
                <a:latin typeface="Calibri"/>
              </a:defRPr>
            </a:pPr>
            <a:r>
              <a:t>[2] BCNatal Maternal-Fetal Ultrasound Dataset. Zenodo. DOI: 10.5281/zenodo.3904280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BDDDD"/>
                </a:solidFill>
                <a:latin typeface="Calibri"/>
              </a:defRPr>
            </a:pPr>
            <a:r>
              <a:t>[3] Ultralytics YOLOv8 — ultralytics.com — State-of-the-art object detection framework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BDDDD"/>
                </a:solidFill>
                <a:latin typeface="Calibri"/>
              </a:defRPr>
            </a:pPr>
            <a:r>
              <a:t>[4] Liu et al. (2024). Deep Learning Segmentation for Biometric Measurement. Multimedia Tools &amp; Applications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BDDDD"/>
                </a:solidFill>
                <a:latin typeface="Calibri"/>
              </a:defRPr>
            </a:pPr>
            <a:r>
              <a:t>[5] Krishna &amp; Kokil (2024). Stacked Ensemble for Fetal Plane Classification. Expert Systems with Applications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BDDDD"/>
                </a:solidFill>
                <a:latin typeface="Calibri"/>
              </a:defRPr>
            </a:pPr>
            <a:r>
              <a:t>[6] Thomas &amp; Harikumar (2024). Ensemble Deep Learning for Plane Identification. Int. J. Information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474720"/>
            <a:ext cx="4873752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BBDDDD"/>
                </a:solidFill>
                <a:latin typeface="Calibri"/>
              </a:defRPr>
            </a:pPr>
            <a:r>
              <a:t>Questions &amp; Feedback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465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BBBB"/>
                </a:solidFill>
              </a:defRPr>
            </a:pPr>
            <a:r>
              <a:t>Fetal Image Analysis | MVIT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B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